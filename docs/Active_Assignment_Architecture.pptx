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3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8"/>
  </p:normalViewPr>
  <p:slideViewPr>
    <p:cSldViewPr snapToGrid="0">
      <p:cViewPr varScale="1">
        <p:scale>
          <a:sx n="120" d="100"/>
          <a:sy n="12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D3E02-6EE7-C488-FCAC-3D5EB79F2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25F3F4-1A14-6FB7-AA45-D2EECE886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AB5D10-139C-3E09-B34E-1E6075AF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7ECECF-9D7B-52DA-5709-2BED5510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024F40-12D6-0362-4997-CFAEA314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365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481EE-138B-61A8-C51A-E967BCE5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B7D66-DC4D-5F7B-94BD-39CB1FE94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59AC0F-3B40-16DA-0BC5-7B6AB1E8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FBC13-C457-829E-398B-3E22FAB0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82AE9-809D-1429-B8F0-CC77FF49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919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2931F-7000-0C65-2BEB-C0D43FF5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0F0132-A170-8DD6-C030-5D0FB09E2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D1611-FAAA-DAF7-847F-FE7B7B6D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8D636C-9A8D-8EBD-D87D-500A6054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A07425-DB30-7A2D-27C3-6D9EAAC6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206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92CF2-6D09-89BE-0250-D3C84FC9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1C7B0A-0DAC-1511-09FE-1EC4221BD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11C7BB-272E-D670-E19C-06B4E32D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C9AB6-9765-F28E-ABE7-CB64D989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46541B-10E6-7B32-E705-CD1E238E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9EC7B6-834C-E81C-0A2C-47DF854C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201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0E6AD-5A0F-3D1C-CDCA-0D02874C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07938A-C320-601B-5AA0-E0A30163D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C1172D-85F7-41D7-0B8E-38AFDD6BC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F835A0-8466-1405-21E8-EA894134C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C7FF74-F1F6-07E6-4FB0-8DC2CD53B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F0FA14-86E0-8879-555A-B661C346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D8B31E-F7A8-F007-375D-EEA4888E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FBDA50-BED0-F403-5038-EE23BAF6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495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ACCCB-2DC4-D13F-AA98-78E45EE5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880680-42FF-D2B4-0543-0BEEE4A5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61D4C3-933A-FE33-1547-98E93231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1250F5-A647-BC48-B3E0-CDC42301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411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195466-B228-9AD6-0FF9-1377948D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39FE27-F0C9-D4B9-DB33-9F228FB8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512A4-7575-E99E-5C9C-0CDEDB1E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688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62B04-B4A7-75BC-3E34-7F2D97B83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4D6DE-DFB3-8B04-6F02-EAC2A132E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D03737-0635-7CDE-3D67-02A5725E1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E68AE1-3D6F-052F-852B-8146220C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FF9ACD-F18C-1AB1-A2BA-B746C1D8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FF5E29-EC74-BF21-53FB-D808BC1B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436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F61DB-88F7-0BC9-F10E-20F879961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433A6B-DFF0-FF3C-380B-BE1A1E7D50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D84F95-17DE-8B07-B6E7-5FD070CDA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9BB029-335B-F49C-CEB9-7A100110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598A1E-E777-3D1F-8071-352F97A9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C4E746-EC69-1644-FA9E-9D2051A8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838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2213B-E05A-8A14-8BA9-6335F773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F7F24D-38D1-BDC7-C71F-D87C232CC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DD3F1-4248-93BA-BE65-73A22916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74F7-E8B6-F899-1AC6-537426EA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A0A26-C34B-DCF1-8794-86CF5A91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005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2F37E9-9FE9-0C40-B6B9-2CE56D1B6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6B0C0A-A198-C414-BAE5-F399DDD37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AA49A-8DC3-FFCB-CE88-3839E787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D126F-0030-2F3C-2B82-F39F98BCF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59C02-5347-F225-695F-057622EE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7432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724DA15-01FB-4333-83D0-5DC099038CD1}"/>
              </a:ext>
            </a:extLst>
          </p:cNvPr>
          <p:cNvSpPr/>
          <p:nvPr userDrawn="1"/>
        </p:nvSpPr>
        <p:spPr>
          <a:xfrm>
            <a:off x="9389831" y="384361"/>
            <a:ext cx="2400839" cy="308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3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Pretendard GOV SemiBold" panose="02000703000000020004" pitchFamily="2" charset="-127"/>
                <a:ea typeface="Pretendard GOV SemiBold" panose="02000703000000020004" pitchFamily="2" charset="-127"/>
                <a:cs typeface="Pretendard GOV SemiBold" panose="02000703000000020004" pitchFamily="2" charset="-127"/>
              </a:rPr>
              <a:t>Ⅱ. Insight for 2026 3Q </a:t>
            </a:r>
          </a:p>
          <a:p>
            <a:pPr algn="r"/>
            <a:endParaRPr lang="ko-KR" altLang="en-US" sz="1003" dirty="0">
              <a:ln>
                <a:solidFill>
                  <a:srgbClr val="C00000"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Pretendard GOV SemiBold" panose="02000703000000020004" pitchFamily="2" charset="-127"/>
              <a:ea typeface="Pretendard GOV SemiBold" panose="02000703000000020004" pitchFamily="2" charset="-127"/>
              <a:cs typeface="Pretendard GOV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503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8C0C70-E617-EBCD-2FAC-C9B6EF46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FBCC4-4878-08B6-54F4-8C3CE3B71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7E3D3-5D2B-38F7-BE36-3F7E4D38D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43F29-DAFB-F942-B894-75BABF3DE4B2}" type="datetimeFigureOut">
              <a:rPr kumimoji="1" lang="ko-KR" altLang="en-US" smtClean="0"/>
              <a:t>2026. 10. 25.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D1F7A-1A8F-A7E9-F989-CF5E8A228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1B440-6F35-EC4A-7FC1-A59CA697E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7BF60-0D8A-BD43-AD34-0D4CA9BECBB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3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9">
            <a:extLst>
              <a:ext uri="{FF2B5EF4-FFF2-40B4-BE49-F238E27FC236}">
                <a16:creationId xmlns:a16="http://schemas.microsoft.com/office/drawing/2014/main" id="{DE17DAF9-56A0-4EA8-B03D-CF893E1F9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5900" y="1010635"/>
            <a:ext cx="3933822" cy="4836729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  <a:effectLst/>
        </p:spPr>
        <p:txBody>
          <a:bodyPr wrap="none" anchor="ctr"/>
          <a:lstStyle/>
          <a:p>
            <a:pPr algn="ctr" latinLnBrk="0"/>
            <a:endParaRPr lang="en-US" altLang="ko-KR" sz="902" ker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AutoShape 257">
            <a:extLst>
              <a:ext uri="{FF2B5EF4-FFF2-40B4-BE49-F238E27FC236}">
                <a16:creationId xmlns:a16="http://schemas.microsoft.com/office/drawing/2014/main" id="{CE54D797-D303-493B-AE35-D54E55583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5900" y="754513"/>
            <a:ext cx="3933822" cy="400244"/>
          </a:xfrm>
          <a:prstGeom prst="rect">
            <a:avLst/>
          </a:prstGeom>
          <a:solidFill>
            <a:srgbClr val="C3C3C3"/>
          </a:solidFill>
          <a:ln>
            <a:noFill/>
          </a:ln>
          <a:effectLst/>
        </p:spPr>
        <p:txBody>
          <a:bodyPr wrap="none" anchor="ctr"/>
          <a:lstStyle/>
          <a:p>
            <a:pPr algn="ctr" latinLnBrk="0"/>
            <a:r>
              <a:rPr lang="en-US" altLang="ko-KR" sz="1404" b="1" kern="0" dirty="0">
                <a:latin typeface="Pretendard GOV Medium" panose="02000603000000020004" pitchFamily="2" charset="-127"/>
                <a:ea typeface="Pretendard GOV Medium" panose="02000603000000020004" pitchFamily="2" charset="-127"/>
                <a:cs typeface="Pretendard GOV Medium" panose="02000603000000020004" pitchFamily="2" charset="-127"/>
              </a:rPr>
              <a:t>Progress Overview</a:t>
            </a:r>
            <a:endParaRPr lang="ko-KR" altLang="en-US" sz="1404" b="1" kern="0" dirty="0">
              <a:latin typeface="Pretendard GOV Medium" panose="02000603000000020004" pitchFamily="2" charset="-127"/>
              <a:ea typeface="Pretendard GOV Medium" panose="02000603000000020004" pitchFamily="2" charset="-127"/>
              <a:cs typeface="Pretendard GOV Medium" panose="02000603000000020004" pitchFamily="2" charset="-127"/>
            </a:endParaRPr>
          </a:p>
        </p:txBody>
      </p:sp>
      <p:sp>
        <p:nvSpPr>
          <p:cNvPr id="10" name="Google Shape;671;p60">
            <a:extLst>
              <a:ext uri="{FF2B5EF4-FFF2-40B4-BE49-F238E27FC236}">
                <a16:creationId xmlns:a16="http://schemas.microsoft.com/office/drawing/2014/main" id="{28A8DCF0-2290-439A-BA56-6EE7106F0EBA}"/>
              </a:ext>
            </a:extLst>
          </p:cNvPr>
          <p:cNvSpPr txBox="1"/>
          <p:nvPr/>
        </p:nvSpPr>
        <p:spPr>
          <a:xfrm>
            <a:off x="7863341" y="1079342"/>
            <a:ext cx="3916381" cy="404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8" tIns="144368" rIns="91658" bIns="45817" anchor="t" anchorCtr="0">
            <a:noAutofit/>
          </a:bodyPr>
          <a:lstStyle/>
          <a:p>
            <a:pPr marL="142287" indent="-142287" latinLnBrk="0">
              <a:lnSpc>
                <a:spcPct val="150000"/>
              </a:lnSpc>
              <a:buClr>
                <a:srgbClr val="293E40"/>
              </a:buClr>
              <a:buSzPts val="1138"/>
              <a:buFont typeface="Arial"/>
              <a:buChar char="•"/>
            </a:pPr>
            <a:r>
              <a:rPr lang="en-US" altLang="ko-KR" sz="1103" b="1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Back Ground / Constraints</a:t>
            </a:r>
          </a:p>
          <a:p>
            <a:pPr marL="256587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Existing MM Assignment only follows up sellers with no product registered within 10 days of account creation</a:t>
            </a:r>
          </a:p>
          <a:p>
            <a:pPr marL="256587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Sellers who registered products but made no sales were left without sales follow-up</a:t>
            </a:r>
          </a:p>
          <a:p>
            <a:pPr marL="256587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Must run alongside MM Assignment without duplicate assignment to the same seller</a:t>
            </a:r>
          </a:p>
          <a:p>
            <a:pPr marL="142287" indent="-142287" latinLnBrk="0">
              <a:lnSpc>
                <a:spcPct val="100000"/>
              </a:lnSpc>
              <a:buNone/>
            </a:pPr>
            <a:endParaRPr lang="en-US" sz="800"/>
          </a:p>
          <a:p>
            <a:pPr marL="142287" indent="-142287" latinLnBrk="0">
              <a:lnSpc>
                <a:spcPct val="150000"/>
              </a:lnSpc>
              <a:buClr>
                <a:srgbClr val="293E40"/>
              </a:buClr>
              <a:buSzPts val="1138"/>
              <a:buFont typeface="Arial"/>
              <a:buChar char="•"/>
            </a:pPr>
            <a:r>
              <a:rPr lang="en-US" altLang="ko-KR" sz="1103" b="1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What To Do</a:t>
            </a:r>
          </a:p>
          <a:p>
            <a:pPr marL="256587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Develop Active Auto Assignment batch</a:t>
            </a:r>
          </a:p>
          <a:p>
            <a:pPr marL="400050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: Target 3P sellers at D-10 from first product registration with no first order</a:t>
            </a:r>
          </a:p>
          <a:p>
            <a:pPr marL="400050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: Create SSR-Active opportunities and distribute by A/B/C grade ratio, excluding users on vacation</a:t>
            </a:r>
          </a:p>
          <a:p>
            <a:pPr marL="256587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Auto-close: Won on first order (real-time trigger), Lost after 21 days</a:t>
            </a:r>
          </a:p>
          <a:p>
            <a:pPr marL="256587" indent="-114300" latinLnBrk="0">
              <a:lnSpc>
                <a:spcPct val="13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Schedule daily at 09:00 and report results by email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FC60CE-C32E-42F3-9051-D2E605B0EED7}"/>
              </a:ext>
            </a:extLst>
          </p:cNvPr>
          <p:cNvSpPr/>
          <p:nvPr/>
        </p:nvSpPr>
        <p:spPr>
          <a:xfrm>
            <a:off x="573959" y="516606"/>
            <a:ext cx="7166543" cy="583103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5">
              <a:latin typeface="나눔고딕" panose="020D0304000000000000" pitchFamily="50" charset="-127"/>
              <a:ea typeface="나눔고딕" panose="020D0304000000000000" pitchFamily="50" charset="-127"/>
            </a:endParaRPr>
          </a:p>
        </p:txBody>
      </p:sp>
      <p:grpSp>
        <p:nvGrpSpPr>
          <p:cNvPr id="999" name="Architecture Diagram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01" name="Text 0"/>
            <p:cNvSpPr txBox="1"/>
            <p:nvPr/>
          </p:nvSpPr>
          <p:spPr>
            <a:xfrm>
              <a:off x="777240" y="896112"/>
              <a:ext cx="6766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ACTIVE AUTO ASSIGNMENT ARCHITECTURE: </a:t>
              </a:r>
              <a:pPr indent="0" marL="0">
                <a:buNone/>
              </a:pPr>
              <a:r>
                <a:rPr lang="en-US" sz="1400" b="1" dirty="0">
                  <a:solidFill>
                    <a:srgbClr val="2F6DB5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ASSIGN</a:t>
              </a:r>
              <a:pPr indent="0" marL="0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 → </a:t>
              </a:r>
              <a:pPr indent="0" marL="0">
                <a:buNone/>
              </a:pPr>
              <a:r>
                <a:rPr lang="en-US" sz="1400" b="1" dirty="0">
                  <a:solidFill>
                    <a:srgbClr val="1E9E6A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CLOSE</a:t>
              </a:r>
              <a:endParaRPr lang="en-US" sz="1400" dirty="0"/>
            </a:p>
          </p:txBody>
        </p:sp>
        <p:sp>
          <p:nvSpPr>
            <p:cNvPr id="1002" name="Text 1"/>
            <p:cNvSpPr txBox="1"/>
            <p:nvPr/>
          </p:nvSpPr>
          <p:spPr>
            <a:xfrm>
              <a:off x="777240" y="1170432"/>
              <a:ext cx="67665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95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Daily follow-up for 3P sellers who registered products but have no sales</a:t>
              </a:r>
              <a:endParaRPr lang="en-US" sz="950" dirty="0"/>
            </a:p>
          </p:txBody>
        </p:sp>
        <p:sp>
          <p:nvSpPr>
            <p:cNvPr id="1003" name="Shape 2"/>
            <p:cNvSpPr/>
            <p:nvPr/>
          </p:nvSpPr>
          <p:spPr>
            <a:xfrm>
              <a:off x="777240" y="1463040"/>
              <a:ext cx="1600200" cy="2971800"/>
            </a:xfrm>
            <a:prstGeom prst="roundRect">
              <a:avLst>
                <a:gd name="adj" fmla="val 4571"/>
              </a:avLst>
            </a:prstGeom>
            <a:solidFill>
              <a:srgbClr val="EAF2FB"/>
            </a:solidFill>
            <a:ln w="12700">
              <a:solidFill>
                <a:srgbClr val="EAF2FB"/>
              </a:solidFill>
              <a:prstDash val="solid"/>
            </a:ln>
          </p:spPr>
        </p:sp>
        <p:sp>
          <p:nvSpPr>
            <p:cNvPr id="1004" name="Text 3"/>
            <p:cNvSpPr txBox="1"/>
            <p:nvPr/>
          </p:nvSpPr>
          <p:spPr>
            <a:xfrm>
              <a:off x="868680" y="1517904"/>
              <a:ext cx="1417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90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SALESFORCE DATA</a:t>
              </a:r>
              <a:endParaRPr lang="en-US" sz="900" dirty="0"/>
            </a:p>
          </p:txBody>
        </p:sp>
        <p:sp>
          <p:nvSpPr>
            <p:cNvPr id="1005" name="Shape 4"/>
            <p:cNvSpPr/>
            <p:nvPr/>
          </p:nvSpPr>
          <p:spPr>
            <a:xfrm>
              <a:off x="2514600" y="1463040"/>
              <a:ext cx="2880360" cy="2971800"/>
            </a:xfrm>
            <a:prstGeom prst="roundRect">
              <a:avLst>
                <a:gd name="adj" fmla="val 2540"/>
              </a:avLst>
            </a:prstGeom>
            <a:solidFill>
              <a:srgbClr val="F3F4F6"/>
            </a:solidFill>
            <a:ln w="12700">
              <a:solidFill>
                <a:srgbClr val="F3F4F6"/>
              </a:solidFill>
              <a:prstDash val="solid"/>
            </a:ln>
          </p:spPr>
        </p:sp>
        <p:sp>
          <p:nvSpPr>
            <p:cNvPr id="1006" name="Text 5"/>
            <p:cNvSpPr txBox="1"/>
            <p:nvPr/>
          </p:nvSpPr>
          <p:spPr>
            <a:xfrm>
              <a:off x="2606040" y="1517904"/>
              <a:ext cx="26974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90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APEX AUTOMATION</a:t>
              </a:r>
              <a:endParaRPr lang="en-US" sz="900" dirty="0"/>
            </a:p>
          </p:txBody>
        </p:sp>
        <p:sp>
          <p:nvSpPr>
            <p:cNvPr id="1007" name="Shape 6"/>
            <p:cNvSpPr/>
            <p:nvPr/>
          </p:nvSpPr>
          <p:spPr>
            <a:xfrm>
              <a:off x="5532120" y="1463040"/>
              <a:ext cx="2057400" cy="2971800"/>
            </a:xfrm>
            <a:prstGeom prst="roundRect">
              <a:avLst>
                <a:gd name="adj" fmla="val 3556"/>
              </a:avLst>
            </a:prstGeom>
            <a:solidFill>
              <a:srgbClr val="E8F6EF"/>
            </a:solidFill>
            <a:ln w="12700">
              <a:solidFill>
                <a:srgbClr val="E8F6EF"/>
              </a:solidFill>
              <a:prstDash val="solid"/>
            </a:ln>
          </p:spPr>
        </p:sp>
        <p:sp>
          <p:nvSpPr>
            <p:cNvPr id="1008" name="Text 7"/>
            <p:cNvSpPr txBox="1"/>
            <p:nvPr/>
          </p:nvSpPr>
          <p:spPr>
            <a:xfrm>
              <a:off x="5623560" y="1517904"/>
              <a:ext cx="18745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90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RESULT</a:t>
              </a:r>
              <a:endParaRPr lang="en-US" sz="900" dirty="0"/>
            </a:p>
          </p:txBody>
        </p:sp>
        <p:sp>
          <p:nvSpPr>
            <p:cNvPr id="1009" name="Shape 8"/>
            <p:cNvSpPr/>
            <p:nvPr/>
          </p:nvSpPr>
          <p:spPr>
            <a:xfrm>
              <a:off x="886968" y="1828800"/>
              <a:ext cx="13716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2700">
              <a:solidFill>
                <a:srgbClr val="2F6DB5"/>
              </a:solidFill>
              <a:prstDash val="dash"/>
            </a:ln>
          </p:spPr>
        </p:sp>
        <p:sp>
          <p:nvSpPr>
            <p:cNvPr id="1010" name="Text 9"/>
            <p:cNvSpPr txBox="1"/>
            <p:nvPr/>
          </p:nvSpPr>
          <p:spPr>
            <a:xfrm>
              <a:off x="932688" y="1828800"/>
              <a:ext cx="128016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Account</a:t>
              </a:r>
              <a:endParaRPr lang="en-US" sz="90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6B7280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3P · D-10 product reg.</a:t>
              </a:r>
              <a:endParaRPr lang="en-US" sz="90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6B7280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no first order</a:t>
              </a:r>
              <a:endParaRPr lang="en-US" sz="900" dirty="0"/>
            </a:p>
          </p:txBody>
        </p:sp>
        <p:sp>
          <p:nvSpPr>
            <p:cNvPr id="1011" name="Shape 10"/>
            <p:cNvSpPr/>
            <p:nvPr/>
          </p:nvSpPr>
          <p:spPr>
            <a:xfrm>
              <a:off x="886968" y="2514600"/>
              <a:ext cx="13716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2700">
              <a:solidFill>
                <a:srgbClr val="2F6DB5"/>
              </a:solidFill>
              <a:prstDash val="dash"/>
            </a:ln>
          </p:spPr>
        </p:sp>
        <p:sp>
          <p:nvSpPr>
            <p:cNvPr id="1012" name="Text 11"/>
            <p:cNvSpPr txBox="1"/>
            <p:nvPr/>
          </p:nvSpPr>
          <p:spPr>
            <a:xfrm>
              <a:off x="932688" y="2514600"/>
              <a:ext cx="128016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User / Event</a:t>
              </a:r>
              <a:endParaRPr lang="en-US" sz="90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6B7280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Emerging MMA · A/B/C</a:t>
              </a:r>
              <a:endParaRPr lang="en-US" sz="90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6B7280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vacation excluded</a:t>
              </a:r>
              <a:endParaRPr lang="en-US" sz="900" dirty="0"/>
            </a:p>
          </p:txBody>
        </p:sp>
        <p:sp>
          <p:nvSpPr>
            <p:cNvPr id="1013" name="Shape 12"/>
            <p:cNvSpPr/>
            <p:nvPr/>
          </p:nvSpPr>
          <p:spPr>
            <a:xfrm>
              <a:off x="886968" y="3200400"/>
              <a:ext cx="13716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2700">
              <a:solidFill>
                <a:srgbClr val="2F6DB5"/>
              </a:solidFill>
              <a:prstDash val="dash"/>
            </a:ln>
          </p:spPr>
        </p:sp>
        <p:sp>
          <p:nvSpPr>
            <p:cNvPr id="1014" name="Text 13"/>
            <p:cNvSpPr txBox="1"/>
            <p:nvPr/>
          </p:nvSpPr>
          <p:spPr>
            <a:xfrm>
              <a:off x="932688" y="3200400"/>
              <a:ext cx="128016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Config</a:t>
              </a:r>
              <a:endParaRPr lang="en-US" sz="90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6B7280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Group % (Custom Setting)</a:t>
              </a:r>
              <a:endParaRPr lang="en-US" sz="90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6B7280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D-day (Custom Label)</a:t>
              </a:r>
              <a:endParaRPr lang="en-US" sz="900" dirty="0"/>
            </a:p>
          </p:txBody>
        </p:sp>
        <p:sp>
          <p:nvSpPr>
            <p:cNvPr id="1015" name="Shape 14"/>
            <p:cNvSpPr/>
            <p:nvPr/>
          </p:nvSpPr>
          <p:spPr>
            <a:xfrm>
              <a:off x="886968" y="3886200"/>
              <a:ext cx="137160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9525">
              <a:solidFill>
                <a:srgbClr val="9AA5B4"/>
              </a:solidFill>
              <a:prstDash val="solid"/>
            </a:ln>
          </p:spPr>
        </p:sp>
        <p:sp>
          <p:nvSpPr>
            <p:cNvPr id="1016" name="Text 15"/>
            <p:cNvSpPr txBox="1"/>
            <p:nvPr/>
          </p:nvSpPr>
          <p:spPr>
            <a:xfrm>
              <a:off x="932688" y="3886200"/>
              <a:ext cx="12801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MMA-PR owners and</a:t>
              </a:r>
              <a:endParaRPr lang="en-US" sz="650" dirty="0"/>
            </a:p>
            <a:p>
              <a:pPr algn="ctr" indent="0" marL="0">
                <a:buNone/>
              </a:pPr>
              <a:r>
                <a:rPr lang="en-US" sz="65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'유한회사' are excluded</a:t>
              </a:r>
              <a:endParaRPr lang="en-US" sz="650" dirty="0"/>
            </a:p>
          </p:txBody>
        </p:sp>
        <p:sp>
          <p:nvSpPr>
            <p:cNvPr id="1017" name="Text 16"/>
            <p:cNvSpPr txBox="1"/>
            <p:nvPr/>
          </p:nvSpPr>
          <p:spPr>
            <a:xfrm>
              <a:off x="2651760" y="173736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F6DB5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Daily 09:00</a:t>
              </a:r>
              <a:endParaRPr lang="en-US" sz="700" dirty="0"/>
            </a:p>
          </p:txBody>
        </p:sp>
        <p:sp>
          <p:nvSpPr>
            <p:cNvPr id="1018" name="Shape 17"/>
            <p:cNvSpPr/>
            <p:nvPr/>
          </p:nvSpPr>
          <p:spPr>
            <a:xfrm>
              <a:off x="2651760" y="1920240"/>
              <a:ext cx="1325880" cy="566928"/>
            </a:xfrm>
            <a:prstGeom prst="roundRect">
              <a:avLst>
                <a:gd name="adj" fmla="val 12903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prstDash val="solid"/>
            </a:ln>
          </p:spPr>
        </p:sp>
        <p:sp>
          <p:nvSpPr>
            <p:cNvPr id="1019" name="Text 18"/>
            <p:cNvSpPr txBox="1"/>
            <p:nvPr/>
          </p:nvSpPr>
          <p:spPr>
            <a:xfrm>
              <a:off x="2697480" y="1920240"/>
              <a:ext cx="1234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Assign Batch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Active_Assignment_02_ba</a:t>
              </a:r>
              <a:endParaRPr lang="en-US" sz="950" dirty="0"/>
            </a:p>
          </p:txBody>
        </p:sp>
        <p:sp>
          <p:nvSpPr>
            <p:cNvPr id="1020" name="Shape 19"/>
            <p:cNvSpPr/>
            <p:nvPr/>
          </p:nvSpPr>
          <p:spPr>
            <a:xfrm>
              <a:off x="4114800" y="1920240"/>
              <a:ext cx="1188720" cy="566928"/>
            </a:xfrm>
            <a:prstGeom prst="roundRect">
              <a:avLst>
                <a:gd name="adj" fmla="val 12903"/>
              </a:avLst>
            </a:prstGeom>
            <a:solidFill>
              <a:srgbClr val="1E9E6A"/>
            </a:solidFill>
            <a:ln w="12700">
              <a:solidFill>
                <a:srgbClr val="1E9E6A"/>
              </a:solidFill>
              <a:prstDash val="solid"/>
            </a:ln>
          </p:spPr>
        </p:sp>
        <p:sp>
          <p:nvSpPr>
            <p:cNvPr id="1021" name="Text 20"/>
            <p:cNvSpPr txBox="1"/>
            <p:nvPr/>
          </p:nvSpPr>
          <p:spPr>
            <a:xfrm>
              <a:off x="4160520" y="1920240"/>
              <a:ext cx="10972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Allocator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65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Active_Assignment_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65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Helper</a:t>
              </a:r>
              <a:endParaRPr lang="en-US" sz="950" dirty="0"/>
            </a:p>
          </p:txBody>
        </p:sp>
        <p:sp>
          <p:nvSpPr>
            <p:cNvPr id="1022" name="Shape 21"/>
            <p:cNvSpPr/>
            <p:nvPr/>
          </p:nvSpPr>
          <p:spPr>
            <a:xfrm>
              <a:off x="3977640" y="2203704"/>
              <a:ext cx="137160" cy="914"/>
            </a:xfrm>
            <a:prstGeom prst="line">
              <a:avLst/>
            </a:prstGeom>
            <a:noFill/>
            <a:ln w="12700">
              <a:solidFill>
                <a:srgbClr val="1E9E6A"/>
              </a:solidFill>
              <a:prstDash val="solid"/>
              <a:headEnd type="triangle"/>
              <a:tailEnd type="triangle"/>
            </a:ln>
          </p:spPr>
        </p:sp>
        <p:sp>
          <p:nvSpPr>
            <p:cNvPr id="1023" name="Shape 22"/>
            <p:cNvSpPr/>
            <p:nvPr/>
          </p:nvSpPr>
          <p:spPr>
            <a:xfrm>
              <a:off x="4069080" y="2578608"/>
              <a:ext cx="1280160" cy="36576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9AA5B4"/>
              </a:solidFill>
              <a:prstDash val="solid"/>
            </a:ln>
          </p:spPr>
        </p:sp>
        <p:sp>
          <p:nvSpPr>
            <p:cNvPr id="1024" name="Text 23"/>
            <p:cNvSpPr txBox="1"/>
            <p:nvPr/>
          </p:nvSpPr>
          <p:spPr>
            <a:xfrm>
              <a:off x="4114800" y="2578608"/>
              <a:ext cx="1188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A/B/C grade ratio ·</a:t>
              </a:r>
              <a:endParaRPr lang="en-US" sz="650" dirty="0"/>
            </a:p>
            <a:p>
              <a:pPr algn="ctr" indent="0" marL="0">
                <a:buNone/>
              </a:pPr>
              <a:r>
                <a:rPr lang="en-US" sz="65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least-loaded user first</a:t>
              </a:r>
              <a:endParaRPr lang="en-US" sz="650" dirty="0"/>
            </a:p>
          </p:txBody>
        </p:sp>
        <p:sp>
          <p:nvSpPr>
            <p:cNvPr id="1025" name="Text 24"/>
            <p:cNvSpPr txBox="1"/>
            <p:nvPr/>
          </p:nvSpPr>
          <p:spPr>
            <a:xfrm>
              <a:off x="2651760" y="301752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700" b="1" dirty="0">
                  <a:solidFill>
                    <a:srgbClr val="2F6DB5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Scheduled</a:t>
              </a:r>
              <a:endParaRPr lang="en-US" sz="700" dirty="0"/>
            </a:p>
          </p:txBody>
        </p:sp>
        <p:sp>
          <p:nvSpPr>
            <p:cNvPr id="1026" name="Shape 25"/>
            <p:cNvSpPr/>
            <p:nvPr/>
          </p:nvSpPr>
          <p:spPr>
            <a:xfrm>
              <a:off x="2651760" y="3200400"/>
              <a:ext cx="1325880" cy="566928"/>
            </a:xfrm>
            <a:prstGeom prst="roundRect">
              <a:avLst>
                <a:gd name="adj" fmla="val 12903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prstDash val="solid"/>
            </a:ln>
          </p:spPr>
        </p:sp>
        <p:sp>
          <p:nvSpPr>
            <p:cNvPr id="1027" name="Text 26"/>
            <p:cNvSpPr txBox="1"/>
            <p:nvPr/>
          </p:nvSpPr>
          <p:spPr>
            <a:xfrm>
              <a:off x="2697480" y="3200400"/>
              <a:ext cx="1234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Close Batch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65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Active_Assignment_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65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CloseOppty_ba</a:t>
              </a:r>
              <a:endParaRPr lang="en-US" sz="950" dirty="0"/>
            </a:p>
          </p:txBody>
        </p:sp>
        <p:sp>
          <p:nvSpPr>
            <p:cNvPr id="1028" name="Shape 27"/>
            <p:cNvSpPr/>
            <p:nvPr/>
          </p:nvSpPr>
          <p:spPr>
            <a:xfrm>
              <a:off x="2651760" y="3858768"/>
              <a:ext cx="1325880" cy="457200"/>
            </a:xfrm>
            <a:prstGeom prst="roundRect">
              <a:avLst>
                <a:gd name="adj" fmla="val 16000"/>
              </a:avLst>
            </a:prstGeom>
            <a:solidFill>
              <a:srgbClr val="D9822B"/>
            </a:solidFill>
            <a:ln w="12700">
              <a:solidFill>
                <a:srgbClr val="D9822B"/>
              </a:solidFill>
              <a:prstDash val="solid"/>
            </a:ln>
          </p:spPr>
        </p:sp>
        <p:sp>
          <p:nvSpPr>
            <p:cNvPr id="1029" name="Text 28"/>
            <p:cNvSpPr txBox="1"/>
            <p:nvPr/>
          </p:nvSpPr>
          <p:spPr>
            <a:xfrm>
              <a:off x="2697480" y="3858768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Account_tr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Trigger · real-time</a:t>
              </a:r>
              <a:endParaRPr lang="en-US" sz="950" dirty="0"/>
            </a:p>
          </p:txBody>
        </p:sp>
        <p:sp>
          <p:nvSpPr>
            <p:cNvPr id="1030" name="Text 29"/>
            <p:cNvSpPr txBox="1"/>
            <p:nvPr/>
          </p:nvSpPr>
          <p:spPr>
            <a:xfrm>
              <a:off x="4069080" y="4114800"/>
              <a:ext cx="1325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D9822B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First order → instant Won</a:t>
              </a:r>
              <a:endParaRPr lang="en-US" sz="700" dirty="0"/>
            </a:p>
          </p:txBody>
        </p:sp>
        <p:sp>
          <p:nvSpPr>
            <p:cNvPr id="1031" name="Shape 30"/>
            <p:cNvSpPr/>
            <p:nvPr/>
          </p:nvSpPr>
          <p:spPr>
            <a:xfrm>
              <a:off x="5669280" y="1828800"/>
              <a:ext cx="1783080" cy="530352"/>
            </a:xfrm>
            <a:prstGeom prst="roundRect">
              <a:avLst>
                <a:gd name="adj" fmla="val 13793"/>
              </a:avLst>
            </a:prstGeom>
            <a:solidFill>
              <a:srgbClr val="1E9E6A"/>
            </a:solidFill>
            <a:ln w="12700">
              <a:solidFill>
                <a:srgbClr val="1E9E6A"/>
              </a:solidFill>
              <a:prstDash val="solid"/>
            </a:ln>
          </p:spPr>
        </p:sp>
        <p:sp>
          <p:nvSpPr>
            <p:cNvPr id="1032" name="Text 31"/>
            <p:cNvSpPr txBox="1"/>
            <p:nvPr/>
          </p:nvSpPr>
          <p:spPr>
            <a:xfrm>
              <a:off x="5715000" y="1828800"/>
              <a:ext cx="16916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Opportunity (New)</a:t>
              </a:r>
              <a:endParaRPr lang="en-US" sz="95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SSR-Active 2 · In Process · +21d</a:t>
              </a:r>
              <a:endParaRPr lang="en-US" sz="950" dirty="0"/>
            </a:p>
          </p:txBody>
        </p:sp>
        <p:sp>
          <p:nvSpPr>
            <p:cNvPr id="1033" name="Shape 32"/>
            <p:cNvSpPr/>
            <p:nvPr/>
          </p:nvSpPr>
          <p:spPr>
            <a:xfrm>
              <a:off x="5669280" y="2468880"/>
              <a:ext cx="1783080" cy="384048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12700">
              <a:solidFill>
                <a:srgbClr val="1E9E6A"/>
              </a:solidFill>
              <a:prstDash val="solid"/>
            </a:ln>
          </p:spPr>
        </p:sp>
        <p:sp>
          <p:nvSpPr>
            <p:cNvPr id="1034" name="Text 33"/>
            <p:cNvSpPr txBox="1"/>
            <p:nvPr/>
          </p:nvSpPr>
          <p:spPr>
            <a:xfrm>
              <a:off x="5715000" y="2468880"/>
              <a:ext cx="16916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Account Owner Update</a:t>
              </a:r>
              <a:endParaRPr lang="en-US" sz="850" dirty="0"/>
            </a:p>
          </p:txBody>
        </p:sp>
        <p:sp>
          <p:nvSpPr>
            <p:cNvPr id="1035" name="Shape 34"/>
            <p:cNvSpPr/>
            <p:nvPr/>
          </p:nvSpPr>
          <p:spPr>
            <a:xfrm>
              <a:off x="5669280" y="2944368"/>
              <a:ext cx="1783080" cy="36576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1E9E6A"/>
              </a:solidFill>
              <a:prstDash val="solid"/>
            </a:ln>
          </p:spPr>
        </p:sp>
        <p:sp>
          <p:nvSpPr>
            <p:cNvPr id="1036" name="Text 35"/>
            <p:cNvSpPr txBox="1"/>
            <p:nvPr/>
          </p:nvSpPr>
          <p:spPr>
            <a:xfrm>
              <a:off x="5715000" y="2944368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1F2A44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Email Report</a:t>
              </a:r>
              <a:endParaRPr lang="en-US" sz="850" dirty="0"/>
            </a:p>
          </p:txBody>
        </p:sp>
        <p:sp>
          <p:nvSpPr>
            <p:cNvPr id="1037" name="Shape 36"/>
            <p:cNvSpPr/>
            <p:nvPr/>
          </p:nvSpPr>
          <p:spPr>
            <a:xfrm>
              <a:off x="5669280" y="3401568"/>
              <a:ext cx="841248" cy="457200"/>
            </a:xfrm>
            <a:prstGeom prst="roundRect">
              <a:avLst>
                <a:gd name="adj" fmla="val 16000"/>
              </a:avLst>
            </a:prstGeom>
            <a:solidFill>
              <a:srgbClr val="1E9E6A"/>
            </a:solidFill>
            <a:ln w="12700">
              <a:solidFill>
                <a:srgbClr val="1E9E6A"/>
              </a:solidFill>
              <a:prstDash val="solid"/>
            </a:ln>
          </p:spPr>
        </p:sp>
        <p:sp>
          <p:nvSpPr>
            <p:cNvPr id="1038" name="Text 37"/>
            <p:cNvSpPr txBox="1"/>
            <p:nvPr/>
          </p:nvSpPr>
          <p:spPr>
            <a:xfrm>
              <a:off x="5715000" y="3401568"/>
              <a:ext cx="74980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Closed Won</a:t>
              </a:r>
              <a:endParaRPr lang="en-US" sz="85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first order</a:t>
              </a:r>
              <a:endParaRPr lang="en-US" sz="850" dirty="0"/>
            </a:p>
          </p:txBody>
        </p:sp>
        <p:sp>
          <p:nvSpPr>
            <p:cNvPr id="1039" name="Shape 38"/>
            <p:cNvSpPr/>
            <p:nvPr/>
          </p:nvSpPr>
          <p:spPr>
            <a:xfrm>
              <a:off x="6611112" y="3401568"/>
              <a:ext cx="841248" cy="457200"/>
            </a:xfrm>
            <a:prstGeom prst="roundRect">
              <a:avLst>
                <a:gd name="adj" fmla="val 16000"/>
              </a:avLst>
            </a:prstGeom>
            <a:solidFill>
              <a:srgbClr val="B54A3C"/>
            </a:solidFill>
            <a:ln w="12700">
              <a:solidFill>
                <a:srgbClr val="B54A3C"/>
              </a:solidFill>
              <a:prstDash val="solid"/>
            </a:ln>
          </p:spPr>
        </p:sp>
        <p:sp>
          <p:nvSpPr>
            <p:cNvPr id="1040" name="Text 39"/>
            <p:cNvSpPr txBox="1"/>
            <p:nvPr/>
          </p:nvSpPr>
          <p:spPr>
            <a:xfrm>
              <a:off x="6656832" y="3401568"/>
              <a:ext cx="74980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Closed Lost</a:t>
              </a:r>
              <a:endParaRPr lang="en-US" sz="850" dirty="0"/>
            </a:p>
            <a:p>
              <a:pPr algn="ctr" indent="0" marL="0">
                <a:buNone/>
              </a:pPr>
              <a:r>
                <a:rPr lang="en-US" sz="700" dirty="0">
                  <a:solidFill>
                    <a:srgbClr val="FFFFFF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after 21 days</a:t>
              </a:r>
              <a:endParaRPr lang="en-US" sz="850" dirty="0"/>
            </a:p>
          </p:txBody>
        </p:sp>
        <p:sp>
          <p:nvSpPr>
            <p:cNvPr id="1041" name="Shape 40"/>
            <p:cNvSpPr/>
            <p:nvPr/>
          </p:nvSpPr>
          <p:spPr>
            <a:xfrm>
              <a:off x="2258568" y="2093976"/>
              <a:ext cx="393192" cy="27432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42" name="Shape 41"/>
            <p:cNvSpPr/>
            <p:nvPr/>
          </p:nvSpPr>
          <p:spPr>
            <a:xfrm flipV="1">
              <a:off x="2258568" y="2286000"/>
              <a:ext cx="393192" cy="493776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43" name="Shape 42"/>
            <p:cNvSpPr/>
            <p:nvPr/>
          </p:nvSpPr>
          <p:spPr>
            <a:xfrm flipV="1">
              <a:off x="2258568" y="2395728"/>
              <a:ext cx="393192" cy="1069848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44" name="Shape 43"/>
            <p:cNvSpPr/>
            <p:nvPr/>
          </p:nvSpPr>
          <p:spPr>
            <a:xfrm>
              <a:off x="3310128" y="1719072"/>
              <a:ext cx="914" cy="201168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</a:ln>
          </p:spPr>
        </p:sp>
        <p:sp>
          <p:nvSpPr>
            <p:cNvPr id="1045" name="Shape 44"/>
            <p:cNvSpPr/>
            <p:nvPr/>
          </p:nvSpPr>
          <p:spPr>
            <a:xfrm>
              <a:off x="3310128" y="1719072"/>
              <a:ext cx="2130552" cy="914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</a:ln>
          </p:spPr>
        </p:sp>
        <p:sp>
          <p:nvSpPr>
            <p:cNvPr id="1046" name="Shape 45"/>
            <p:cNvSpPr/>
            <p:nvPr/>
          </p:nvSpPr>
          <p:spPr>
            <a:xfrm>
              <a:off x="5440680" y="1719072"/>
              <a:ext cx="228600" cy="292608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47" name="Text 46"/>
            <p:cNvSpPr txBox="1"/>
            <p:nvPr/>
          </p:nvSpPr>
          <p:spPr>
            <a:xfrm>
              <a:off x="4160520" y="1536192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2F6DB5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Create · Assign</a:t>
              </a:r>
              <a:endParaRPr lang="en-US" sz="700" dirty="0"/>
            </a:p>
          </p:txBody>
        </p:sp>
        <p:sp>
          <p:nvSpPr>
            <p:cNvPr id="1048" name="Shape 47"/>
            <p:cNvSpPr/>
            <p:nvPr/>
          </p:nvSpPr>
          <p:spPr>
            <a:xfrm>
              <a:off x="5440680" y="1719072"/>
              <a:ext cx="228600" cy="914400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49" name="Shape 48"/>
            <p:cNvSpPr/>
            <p:nvPr/>
          </p:nvSpPr>
          <p:spPr>
            <a:xfrm>
              <a:off x="5440680" y="1719072"/>
              <a:ext cx="228600" cy="1408176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50" name="Shape 49"/>
            <p:cNvSpPr/>
            <p:nvPr/>
          </p:nvSpPr>
          <p:spPr>
            <a:xfrm>
              <a:off x="3977640" y="3483864"/>
              <a:ext cx="1691640" cy="146304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  <a:tailEnd type="triangle"/>
            </a:ln>
          </p:spPr>
        </p:sp>
        <p:sp>
          <p:nvSpPr>
            <p:cNvPr id="1051" name="Text 50"/>
            <p:cNvSpPr txBox="1"/>
            <p:nvPr/>
          </p:nvSpPr>
          <p:spPr>
            <a:xfrm>
              <a:off x="4023360" y="3246120"/>
              <a:ext cx="1463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2F6DB5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Close by first order / Close Date</a:t>
              </a:r>
              <a:endParaRPr lang="en-US" sz="700" dirty="0"/>
            </a:p>
          </p:txBody>
        </p:sp>
        <p:sp>
          <p:nvSpPr>
            <p:cNvPr id="1052" name="Shape 51"/>
            <p:cNvSpPr/>
            <p:nvPr/>
          </p:nvSpPr>
          <p:spPr>
            <a:xfrm flipV="1">
              <a:off x="3977640" y="3858768"/>
              <a:ext cx="2112264" cy="228600"/>
            </a:xfrm>
            <a:prstGeom prst="line">
              <a:avLst/>
            </a:prstGeom>
            <a:noFill/>
            <a:ln w="15875">
              <a:solidFill>
                <a:srgbClr val="D9822B"/>
              </a:solidFill>
              <a:prstDash val="dash"/>
              <a:tailEnd type="triangle"/>
            </a:ln>
          </p:spPr>
        </p:sp>
        <p:sp>
          <p:nvSpPr>
            <p:cNvPr id="1053" name="Shape 52"/>
            <p:cNvSpPr/>
            <p:nvPr/>
          </p:nvSpPr>
          <p:spPr>
            <a:xfrm>
              <a:off x="5669280" y="4005072"/>
              <a:ext cx="1783080" cy="384048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6350">
              <a:solidFill>
                <a:srgbClr val="9AA5B4"/>
              </a:solidFill>
              <a:prstDash val="solid"/>
            </a:ln>
          </p:spPr>
        </p:sp>
        <p:sp>
          <p:nvSpPr>
            <p:cNvPr id="1054" name="Shape 53"/>
            <p:cNvSpPr/>
            <p:nvPr/>
          </p:nvSpPr>
          <p:spPr>
            <a:xfrm>
              <a:off x="5742432" y="4105656"/>
              <a:ext cx="228600" cy="914"/>
            </a:xfrm>
            <a:prstGeom prst="line">
              <a:avLst/>
            </a:prstGeom>
            <a:noFill/>
            <a:ln w="15875">
              <a:solidFill>
                <a:srgbClr val="2F6DB5"/>
              </a:solidFill>
              <a:prstDash val="solid"/>
            </a:ln>
          </p:spPr>
        </p:sp>
        <p:sp>
          <p:nvSpPr>
            <p:cNvPr id="1055" name="Text 54"/>
            <p:cNvSpPr txBox="1"/>
            <p:nvPr/>
          </p:nvSpPr>
          <p:spPr>
            <a:xfrm>
              <a:off x="6016752" y="4014216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Batch flow (daily)</a:t>
              </a:r>
              <a:endParaRPr lang="en-US" sz="700" dirty="0"/>
            </a:p>
          </p:txBody>
        </p:sp>
        <p:sp>
          <p:nvSpPr>
            <p:cNvPr id="1056" name="Shape 55"/>
            <p:cNvSpPr/>
            <p:nvPr/>
          </p:nvSpPr>
          <p:spPr>
            <a:xfrm>
              <a:off x="5742432" y="4288536"/>
              <a:ext cx="228600" cy="914"/>
            </a:xfrm>
            <a:prstGeom prst="line">
              <a:avLst/>
            </a:prstGeom>
            <a:noFill/>
            <a:ln w="15875">
              <a:solidFill>
                <a:srgbClr val="D9822B"/>
              </a:solidFill>
              <a:prstDash val="dash"/>
            </a:ln>
          </p:spPr>
        </p:sp>
        <p:sp>
          <p:nvSpPr>
            <p:cNvPr id="1057" name="Text 56"/>
            <p:cNvSpPr txBox="1"/>
            <p:nvPr/>
          </p:nvSpPr>
          <p:spPr>
            <a:xfrm>
              <a:off x="6016752" y="4197096"/>
              <a:ext cx="1371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374151"/>
                  </a:solidFill>
                  <a:latin typeface="Pretendard GOV" pitchFamily="34" charset="0"/>
                  <a:ea typeface="Pretendard GOV" pitchFamily="34" charset="-122"/>
                  <a:cs typeface="Pretendard GOV" pitchFamily="34" charset="-120"/>
                </a:rPr>
                <a:t>Trigger flow (real-time)</a:t>
              </a:r>
              <a:endParaRPr lang="en-US" sz="700" dirty="0"/>
            </a:p>
          </p:txBody>
        </p:sp>
      </p:grpSp>
      <p:sp>
        <p:nvSpPr>
          <p:cNvPr id="15" name="Google Shape;671;p60">
            <a:extLst>
              <a:ext uri="{FF2B5EF4-FFF2-40B4-BE49-F238E27FC236}">
                <a16:creationId xmlns:a16="http://schemas.microsoft.com/office/drawing/2014/main" id="{78572276-6950-48DD-A1C0-FB7AD1E0D32E}"/>
              </a:ext>
            </a:extLst>
          </p:cNvPr>
          <p:cNvSpPr txBox="1"/>
          <p:nvPr/>
        </p:nvSpPr>
        <p:spPr>
          <a:xfrm>
            <a:off x="704421" y="4826154"/>
            <a:ext cx="6903720" cy="132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8" tIns="144368" rIns="91658" bIns="45817" anchor="t" anchorCtr="0">
            <a:noAutofit/>
          </a:bodyPr>
          <a:lstStyle/>
          <a:p>
            <a:pPr marL="142287" indent="-142287" latinLnBrk="0">
              <a:lnSpc>
                <a:spcPct val="150000"/>
              </a:lnSpc>
              <a:buClr>
                <a:srgbClr val="293E40"/>
              </a:buClr>
              <a:buSzPts val="1138"/>
              <a:buFont typeface="Arial"/>
              <a:buChar char="•"/>
            </a:pPr>
            <a:r>
              <a:rPr lang="en-US" altLang="ko-KR" sz="1103" b="1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Automated sales follow-up for Active sellers without manual assignment</a:t>
            </a:r>
          </a:p>
          <a:p>
            <a:pPr marL="256587" indent="-114300" latinLnBrk="0">
              <a:lnSpc>
                <a:spcPct val="15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SSR-Active opportunities created daily and evenly distributed by grade and workload</a:t>
            </a:r>
          </a:p>
          <a:p>
            <a:pPr marL="256587" indent="-114300" latinLnBrk="0">
              <a:lnSpc>
                <a:spcPct val="15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Outcome tracked automatically: Won on first order, Lost after the 21-day window</a:t>
            </a:r>
          </a:p>
          <a:p>
            <a:pPr marL="256587" indent="-114300" latinLnBrk="0">
              <a:lnSpc>
                <a:spcPct val="150000"/>
              </a:lnSpc>
              <a:buNone/>
            </a:pPr>
            <a:r>
              <a:rPr lang="en-US" altLang="ko-KR" sz="1103" dirty="0">
                <a:solidFill>
                  <a:srgbClr val="000000"/>
                </a:solidFill>
                <a:latin typeface="Pretendard GOV" panose="02000503000000020004" pitchFamily="2" charset="-127"/>
                <a:ea typeface="Pretendard GOV" panose="02000503000000020004" pitchFamily="2" charset="-127"/>
                <a:cs typeface="Pretendard GOV" panose="02000503000000020004" pitchFamily="2" charset="-127"/>
                <a:sym typeface="Arial"/>
              </a:rPr>
              <a:t>- No overlap with existing MM Assignment (MMA-PR sellers excluded)</a:t>
            </a:r>
          </a:p>
        </p:txBody>
      </p:sp>
    </p:spTree>
    <p:extLst>
      <p:ext uri="{BB962C8B-B14F-4D97-AF65-F5344CB8AC3E}">
        <p14:creationId xmlns:p14="http://schemas.microsoft.com/office/powerpoint/2010/main" val="290946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</Words>
  <Application>Microsoft Macintosh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Pretendard GOV</vt:lpstr>
      <vt:lpstr>Pretendard GOV Medium</vt:lpstr>
      <vt:lpstr>Pretendard GOV SemiBold</vt:lpstr>
      <vt:lpstr>나눔고딕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이정우</dc:creator>
  <cp:lastModifiedBy>이정우</cp:lastModifiedBy>
  <cp:revision>1</cp:revision>
  <dcterms:created xsi:type="dcterms:W3CDTF">2026-10-25T01:54:27Z</dcterms:created>
  <dcterms:modified xsi:type="dcterms:W3CDTF">2026-10-25T01:55:30Z</dcterms:modified>
</cp:coreProperties>
</file>